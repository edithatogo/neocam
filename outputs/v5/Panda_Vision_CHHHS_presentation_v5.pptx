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 supplied CHHHS artwork background. No approved procurement or comparative clinical trial is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ELC 21 October 2026, printed pp206–212. Complete kit price is an analyst assumption.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v5 exact five-arm model. Equal clinical video effects are a reference hypothesis, not demonstrated equivalence.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outputs/v5/psa_strategy_summary.csv. Means and 95% model uncertainty intervals, not observed effects.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v5 pilot paired PSA. Prototype uncertainty uses explicitly assumed complete cost and relative usable delivery.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outputs/v5/results_v5.json and complete CSV design tables. Deterministic design frequencies are not probabilities.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two-way complete 31×31 grid. Complete kit price is unquoted; reliability is not comparative clinical efficacy.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exact two-way grid. Cross-service allocation needs a defensible use denominator.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Train-fitted input-only KMeans; all clusters retained; held-out design and seed-stability checks.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 holdout n=4,096; selection sample separate; diagnostic holdout retired. outputs/v5/heldout_predictions.csv.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Publisher guidelines checked 28 October 2026; full source/fee record in evidence/v5/journal_targets.csv.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Two-page CHHHS plan v5; comparative supplement; Conductor tracks and actual verification receipts.
Discussion draft 28 October 2026. Sources and assumptions are documented in the v5 comparative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content-v2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titl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Neonatal teleconsultation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between five configurations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substantial uncertainty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October 2026  |  Comparative evaluation v5  |  Discussion draft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97680" y="5897880"/>
            <a:ext cx="5303520" cy="548640"/>
          </a:xfrm>
          <a:prstGeom prst="rect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MODEL  |  NOT PROCUREMENT APPROVAL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complete services—not camera retail prices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Telephone-supported consultation remains in all five options.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ELC 21 October 2026, printed pp206–212. Complete kit price is an analyst assumption.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57784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Installed capital/site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Telephone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Incremental $0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advice is not zero healthcare cost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teleconference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ELC indicative system comparator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 Vision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ELC/user estimate; invoice unverified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Ceiling/wall PTZ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ELC; site/room suitability matters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Tablet + OBSBOT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$4,500 assumed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kit; $7,500 and wider ranges tested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$349 camera-only figure is not an equivalent installed service. Technical feasibility, power, mounting, cleaning and QH Portal control remain prerequisites.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investment decisions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low-cost new option does not make replacing an existing system worthwhile.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exact five-arm model. Equal clinical video effects are a reference hypothesis, not demonstrated equivalence.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 new equipment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039112"/>
            <a:ext cx="32918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complete installation, recurrent costs and usable delivery. Do not infer clinical superiority from the camera specification.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262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installed equipment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26280" y="2039112"/>
            <a:ext cx="32004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 sunk purchase expenditure only from the existing arm. The replacement still incurs a real purchase cost.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equipment costs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039112"/>
            <a:ext cx="320040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neonatal resources where cross-service use is defensible. Allocation does not reduce the full procurement payment.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rankings are conditional on technical eligibility and the stated resource-cost objective.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New-purchase reference results remain uncertain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arm uses the same uncertainty draw; correlations are preserved.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outputs/v5/psa_strategy_summary.csv. Means and 95% model uncertainty intervals, not observed effects.</a:t>
            </a:r>
            <a:endParaRPr lang="en-US" sz="800" dirty="0"/>
          </a:p>
        </p:txBody>
      </p:sp>
      <p:pic>
        <p:nvPicPr>
          <p:cNvPr id="6" name="Image 0" descr="outputs/v5/figures/02_paired_p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680960" cy="4389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150876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53.9%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is cost-optimal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 equal video performance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49640" y="315468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saves vs phone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probability best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Incumbency and prototype uncertainty can change the answer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conditionally attractive prototype is not a demonstrated clinical improvement.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pilot paired PSA. Prototype uncertainty uses explicitly assumed complete cost and relative usable delivery.</a:t>
            </a:r>
            <a:endParaRPr lang="en-US" sz="800" dirty="0"/>
          </a:p>
        </p:txBody>
      </p:sp>
      <p:pic>
        <p:nvPicPr>
          <p:cNvPr id="6" name="Image 0" descr="outputs/v5/figures/03_decision_contex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772400" cy="4434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10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Panda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41080" y="2039112"/>
            <a:ext cx="27432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61.4% probability cost-optimal when existing Panda capital is sunk.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410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uncertain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41080" y="3959352"/>
            <a:ext cx="274320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51.0%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27.2%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21.8%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expected-value choice switches to Panda.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analysis is now explicitly multi-option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within a declared scope—not every possible clinical pathway.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outputs/v5/results_v5.json and complete CSV design tables. Deterministic design frequencies are not probabilities.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51960"/>
                <a:gridCol w="45262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scope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use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Paired PSA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× 20,000 draws × 5 options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best, pairwise value, regret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One-way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dimensions, 21 values, pilot + state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drivers around a fixed reference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Two-way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pairs, 31×31, pilot + state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option-switching boundaries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k-way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3,125 five-way + 2,401 four-way points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assumptions and interactions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/ explanatory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12-D designs; Sobol; input clustering; classifier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 the exact model, not clinical causation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cost and usable delivery trade off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is exact-model output, not a machine-learning prediction.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two-way complete 31×31 grid. Complete kit price is unquoted; reliability is not comparative clinical efficacy.</a:t>
            </a:r>
            <a:endParaRPr lang="en-US" sz="800" dirty="0"/>
          </a:p>
        </p:txBody>
      </p:sp>
      <p:pic>
        <p:nvPicPr>
          <p:cNvPr id="6" name="Image 0" descr="outputs/v5/figures/06_surface_kit_deli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7863840" cy="4526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verify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778240" y="2084832"/>
            <a:ext cx="260604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Installed-system cost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connection and setup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clinician control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switching improves anything beyond convenience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use can favour a mobile unit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attribution is not a procurement discount.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exact two-way grid. Cross-service allocation needs a defensible use denominator.</a:t>
            </a:r>
            <a:endParaRPr lang="en-US" sz="800" dirty="0"/>
          </a:p>
        </p:txBody>
      </p:sp>
      <p:pic>
        <p:nvPicPr>
          <p:cNvPr id="6" name="Image 0" descr="outputs/v5/figures/07_surface_shared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7863840" cy="4526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ledgers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778240" y="1993392"/>
            <a:ext cx="260604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purchase cash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Neonatal resource attribution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Existing/sunk capital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QWAU/QEP and NWAU/NEP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and family consequences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analysis did not discover natural clinical groups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manufacture patient subgroups from a synthetic parameter design.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Train-fitted input-only KMeans; all clusters retained; held-out design and seed-stability checks.</a:t>
            </a:r>
            <a:endParaRPr lang="en-US" sz="800" dirty="0"/>
          </a:p>
        </p:txBody>
      </p:sp>
      <p:pic>
        <p:nvPicPr>
          <p:cNvPr id="6" name="Image 0" descr="outputs/v5/figures/12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89520" cy="4297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155448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0.052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separation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953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595360" y="3776472"/>
            <a:ext cx="2743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agreement was also weak. The clusters are exploratory partitions only—not neonatal or hospital phenotypes.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costs is not the same as choosing well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reported strategy ranking still comes from the exact model.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holdout n=4,096; selection sample separate; diagnostic holdout retired. outputs/v5/heldout_predictions.csv.</a:t>
            </a:r>
            <a:endParaRPr lang="en-US" sz="800" dirty="0"/>
          </a:p>
        </p:txBody>
      </p:sp>
      <p:pic>
        <p:nvPicPr>
          <p:cNvPr id="6" name="Image 0" descr="outputs/v5/figures/14_surrogate_reg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89520" cy="4206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150876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95.0%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agreement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93.3% balanced accuracy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953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not a decision rule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8595360" y="3776472"/>
            <a:ext cx="2743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regret $60/year; worst $8,970. Importance is predictive, not causal and not EVPPI.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Publication: lead with the investment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first target: Journal of Telemedicine and Telecare.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guidelines checked 28 October 2026; full source/fee record in evidence/v5/journal_targets.csv.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49224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emphasis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of Telemedicine and Telecare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Comparative economic analysis; generally 3,000 words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Telemedicine and e-Health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Quality, costs and access; prior neonatal model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Effectiveness and Resource Allocation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uncertainty and resource allocation methods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Australian Health Review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Queensland commissioning/funding; 2,500 words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of Medical Internet Research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Stretch target: broader international digital-health relevance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193792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machine-learning diagnostics and full sensitivity grids in the supplement. No head-to-head device trial, proven equivalence or QALY benefit is claimed.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decision: review assumptions, not add complexity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completed model to define the conditions for worthwhile investment.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Two-page CHHHS plan v5; comparative supplement; Conductor tracks and actual verification receipts.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6002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pilot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039112"/>
            <a:ext cx="50749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installed Panda while examining technical usability and actual replacement costs. A cheaper component alone is not a reason to switch.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1600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expansion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2039112"/>
            <a:ext cx="4983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technically eligible complete systems. Check common-effect assumptions and marginal resources; preserve uncertainty across sites.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publication: critical full-text source checks, independent clinical/economic review, governance and data-rights statements, and connected locked-toolchain verification. No new RCT or structured elicitation is required to undertake this model-based study.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Vision | Five-option investment choices | v5</dc:title>
  <dc:subject>Preliminary economic evaluation</dc:subject>
  <dc:creator>Evaluation working draft</dc:creator>
  <cp:lastModifiedBy>Evaluation working draft</cp:lastModifiedBy>
  <cp:revision>1</cp:revision>
  <dcterms:created xsi:type="dcterms:W3CDTF">2026-10-28T01:35:32Z</dcterms:created>
  <dcterms:modified xsi:type="dcterms:W3CDTF">2026-10-28T01:35:32Z</dcterms:modified>
</cp:coreProperties>
</file>
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Mode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8993"/>
              </a:solidFill>
              <a:effectLst/>
            </c:spPr>
          </c:dPt>
          <c:dPt>
            <c:idx val="1"/>
            <c:bubble3D val="0"/>
            <c:spPr>
              <a:solidFill>
                <a:srgbClr val="F7BA66"/>
              </a:solidFill>
              <a:effectLst/>
            </c:spPr>
          </c:dPt>
          <c:dPt>
            <c:idx val="2"/>
            <c:bubble3D val="0"/>
            <c:spPr>
              <a:solidFill>
                <a:srgbClr val="70B16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Road</c:v>
                </c:pt>
                <c:pt idx="1">
                  <c:v>Rotary</c:v>
                </c:pt>
                <c:pt idx="2">
                  <c:v>Fixed wing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25</c:v>
                </c:pt>
                <c:pt idx="1">
                  <c:v>9</c:v>
                </c:pt>
                <c:pt idx="2">
                  <c:v>11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saving ($000)</c:v>
                </c:pt>
              </c:strCache>
            </c:strRef>
          </c:tx>
          <c:spPr>
            <a:solidFill>
              <a:srgbClr val="2F89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 effect</c:v>
                  </c:pt>
                  <c:pt idx="1">
                    <c:v>3 pp</c:v>
                  </c:pt>
                  <c:pt idx="2">
                    <c:v>5 pp</c:v>
                  </c:pt>
                  <c:pt idx="3">
                    <c:v>8 pp</c:v>
                  </c:pt>
                  <c:pt idx="4">
                    <c:v>18 pp</c:v>
                  </c:pt>
                  <c:pt idx="5">
                    <c:v>26 pp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-12</c:v>
                </c:pt>
                <c:pt idx="1">
                  <c:v>6</c:v>
                </c:pt>
                <c:pt idx="2">
                  <c:v>17</c:v>
                </c:pt>
                <c:pt idx="3">
                  <c:v>35</c:v>
                </c:pt>
                <c:pt idx="4">
                  <c:v>94</c:v>
                </c:pt>
                <c:pt idx="5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0"/>
          <c:min val="-20"/>
        </c:scaling>
        <c:delete val="0"/>
        <c:axPos val="l"/>
        <c:majorGridlines>
          <c:spPr>
            <a:ln w="12700" cap="flat">
              <a:solidFill>
                <a:srgbClr val="D8E3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Annual net saving ($000)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Simulations</c:v>
                </c:pt>
              </c:strCache>
            </c:strRef>
          </c:tx>
          <c:spPr>
            <a:solidFill>
              <a:srgbClr val="2F8993"/>
            </a:solidFill>
            <a:ln w="38100" cap="flat">
              <a:solidFill>
                <a:srgbClr val="2F89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8993"/>
              </a:solidFill>
              <a:ln w="9525" cap="flat">
                <a:solidFill>
                  <a:srgbClr val="2F89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-82</c:v>
                  </c:pt>
                  <c:pt idx="1">
                    <c:v>-66</c:v>
                  </c:pt>
                  <c:pt idx="2">
                    <c:v>-51</c:v>
                  </c:pt>
                  <c:pt idx="3">
                    <c:v>-36</c:v>
                  </c:pt>
                  <c:pt idx="4">
                    <c:v>-21</c:v>
                  </c:pt>
                  <c:pt idx="5">
                    <c:v>-5</c:v>
                  </c:pt>
                  <c:pt idx="6">
                    <c:v>10</c:v>
                  </c:pt>
                  <c:pt idx="7">
                    <c:v>25</c:v>
                  </c:pt>
                  <c:pt idx="8">
                    <c:v>40</c:v>
                  </c:pt>
                  <c:pt idx="9">
                    <c:v>55</c:v>
                  </c:pt>
                  <c:pt idx="10">
                    <c:v>71</c:v>
                  </c:pt>
                  <c:pt idx="11">
                    <c:v>86</c:v>
                  </c:pt>
                  <c:pt idx="12">
                    <c:v>101</c:v>
                  </c:pt>
                  <c:pt idx="13">
                    <c:v>116</c:v>
                  </c:pt>
                  <c:pt idx="14">
                    <c:v>132</c:v>
                  </c:pt>
                  <c:pt idx="15">
                    <c:v>147</c:v>
                  </c:pt>
                  <c:pt idx="16">
                    <c:v>162</c:v>
                  </c:pt>
                  <c:pt idx="17">
                    <c:v>177</c:v>
                  </c:pt>
                  <c:pt idx="18">
                    <c:v>192</c:v>
                  </c:pt>
                  <c:pt idx="19">
                    <c:v>208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131</c:v>
                </c:pt>
                <c:pt idx="1">
                  <c:v>249</c:v>
                </c:pt>
                <c:pt idx="2">
                  <c:v>486</c:v>
                </c:pt>
                <c:pt idx="3">
                  <c:v>848</c:v>
                </c:pt>
                <c:pt idx="4">
                  <c:v>1415</c:v>
                </c:pt>
                <c:pt idx="5">
                  <c:v>1995</c:v>
                </c:pt>
                <c:pt idx="6">
                  <c:v>2349</c:v>
                </c:pt>
                <c:pt idx="7">
                  <c:v>2394</c:v>
                </c:pt>
                <c:pt idx="8">
                  <c:v>2132</c:v>
                </c:pt>
                <c:pt idx="9">
                  <c:v>2016</c:v>
                </c:pt>
                <c:pt idx="10">
                  <c:v>1584</c:v>
                </c:pt>
                <c:pt idx="11">
                  <c:v>1255</c:v>
                </c:pt>
                <c:pt idx="12">
                  <c:v>896</c:v>
                </c:pt>
                <c:pt idx="13">
                  <c:v>689</c:v>
                </c:pt>
                <c:pt idx="14">
                  <c:v>496</c:v>
                </c:pt>
                <c:pt idx="15">
                  <c:v>339</c:v>
                </c:pt>
                <c:pt idx="16">
                  <c:v>222</c:v>
                </c:pt>
                <c:pt idx="17">
                  <c:v>138</c:v>
                </c:pt>
                <c:pt idx="18">
                  <c:v>105</c:v>
                </c:pt>
                <c:pt idx="19">
                  <c:v>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Annual health-system net saving ($000)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8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HH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hhhs-content-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HHS_TITLE">
    <p:bg>
      <p:bgPr>
        <a:solidFill>
          <a:srgbClr val="2F89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hhhs-title-back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920240"/>
            <a:ext cx="5852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 Vision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58368" y="2606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Model-based economic evaluation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58368" y="324612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9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rural neonatal telehealth pilot | Atherton, Mareeba and Innisfail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8368" y="498348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briefing | 27 October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is whether video adds enough value to justify the system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4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Consultation occurs in both pathways; the model does not credit avoided specialist consultations.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2148840" cy="1298448"/>
          </a:xfrm>
          <a:prstGeom prst="rect">
            <a:avLst/>
          </a:prstGeom>
          <a:solidFill>
            <a:srgbClr val="DDEEF0"/>
          </a:solidFill>
          <a:ln w="12700">
            <a:solidFill>
              <a:srgbClr val="D1E4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535C"/>
                </a:solidFill>
              </a:rPr>
              <a:t>3</a:t>
            </a:r>
            <a:endParaRPr lang="en-US" sz="2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95958"/>
                </a:solidFill>
              </a:rPr>
              <a:t>current hospitals</a:t>
            </a:r>
            <a:endParaRPr lang="en-US" sz="25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Atherton · Mareeba · Innisfail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017520" y="1417320"/>
            <a:ext cx="2148840" cy="1298448"/>
          </a:xfrm>
          <a:prstGeom prst="rect">
            <a:avLst/>
          </a:prstGeom>
          <a:solidFill>
            <a:srgbClr val="F4F8F8"/>
          </a:solidFill>
          <a:ln w="12700">
            <a:solidFill>
              <a:srgbClr val="D1E4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535C"/>
                </a:solidFill>
              </a:rPr>
              <a:t>10–15</a:t>
            </a:r>
            <a:endParaRPr lang="en-US" sz="2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95958"/>
                </a:solidFill>
              </a:rPr>
              <a:t>consultations/site/year</a:t>
            </a:r>
            <a:endParaRPr lang="en-US" sz="25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30–45 across the network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94960" y="1417320"/>
            <a:ext cx="2148840" cy="1298448"/>
          </a:xfrm>
          <a:prstGeom prst="rect">
            <a:avLst/>
          </a:prstGeom>
          <a:solidFill>
            <a:srgbClr val="DDEEF0"/>
          </a:solidFill>
          <a:ln w="12700">
            <a:solidFill>
              <a:srgbClr val="D1E4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535C"/>
                </a:solidFill>
              </a:rPr>
              <a:t>4–5</a:t>
            </a:r>
            <a:endParaRPr lang="en-US" sz="2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95958"/>
                </a:solidFill>
              </a:rPr>
              <a:t>Atherton episodes to date</a:t>
            </a:r>
            <a:endParaRPr lang="en-US" sz="25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local pilot experience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772400" y="1417320"/>
            <a:ext cx="2148840" cy="1298448"/>
          </a:xfrm>
          <a:prstGeom prst="rect">
            <a:avLst/>
          </a:prstGeom>
          <a:solidFill>
            <a:srgbClr val="F4F8F8"/>
          </a:solidFill>
          <a:ln w="12700">
            <a:solidFill>
              <a:srgbClr val="D1E4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535C"/>
                </a:solidFill>
              </a:rPr>
              <a:t>$10k</a:t>
            </a:r>
            <a:endParaRPr lang="en-US" sz="2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95958"/>
                </a:solidFill>
              </a:rPr>
              <a:t>installed cost/site</a:t>
            </a:r>
            <a:endParaRPr lang="en-US" sz="25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invoice/component verification required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 mechanisms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4754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a transfer that is not clinically required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005072"/>
            <a:ext cx="47548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procedures and stabilisation before a transfer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489704"/>
            <a:ext cx="47548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assessment, clinician confidence and family communication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80760" y="3154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553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model must not assume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3520440"/>
            <a:ext cx="5029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the 4–5 episodes establish effectiveness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4005072"/>
            <a:ext cx="5029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NWAU funding equals marginal cash saved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4489704"/>
            <a:ext cx="50292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every additional survivor reduces expenditure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4360" y="6446520"/>
            <a:ext cx="10332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facts: CHHHS ELC Operational paper, 21 October 2026; activity estimates confirmed after discussion with Dr Nicholas Cairns.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annual cohort, two consultation modes, several consequences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4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tree keeps transfer, stabilisation and longer-term outcomes distinct.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514600" y="2212848"/>
            <a:ext cx="960120" cy="0"/>
          </a:xfrm>
          <a:prstGeom prst="line">
            <a:avLst/>
          </a:prstGeom>
          <a:noFill/>
          <a:ln w="25400">
            <a:solidFill>
              <a:srgbClr val="2F8993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5623560" y="2212848"/>
            <a:ext cx="868680" cy="0"/>
          </a:xfrm>
          <a:prstGeom prst="line">
            <a:avLst/>
          </a:prstGeom>
          <a:noFill/>
          <a:ln w="25400">
            <a:solidFill>
              <a:srgbClr val="2F8993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549640" y="2212848"/>
            <a:ext cx="777240" cy="0"/>
          </a:xfrm>
          <a:prstGeom prst="line">
            <a:avLst/>
          </a:prstGeom>
          <a:noFill/>
          <a:ln w="25400">
            <a:solidFill>
              <a:srgbClr val="2F899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623560" y="3840480"/>
            <a:ext cx="868680" cy="0"/>
          </a:xfrm>
          <a:prstGeom prst="line">
            <a:avLst/>
          </a:prstGeom>
          <a:noFill/>
          <a:ln w="25400">
            <a:solidFill>
              <a:srgbClr val="2F899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49640" y="3840480"/>
            <a:ext cx="777240" cy="0"/>
          </a:xfrm>
          <a:prstGeom prst="line">
            <a:avLst/>
          </a:prstGeom>
          <a:noFill/>
          <a:ln w="25400">
            <a:solidFill>
              <a:srgbClr val="2F8993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58368" y="1536192"/>
            <a:ext cx="1874520" cy="1353312"/>
          </a:xfrm>
          <a:prstGeom prst="rect">
            <a:avLst/>
          </a:prstGeom>
          <a:solidFill>
            <a:srgbClr val="F4F8F8"/>
          </a:solidFill>
          <a:ln w="15240">
            <a:solidFill>
              <a:srgbClr val="A7D0D4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535C"/>
                </a:solidFill>
              </a:rPr>
              <a:t>Eligible episode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Neonate requires specialist advice after birth in a rural facility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1536192"/>
            <a:ext cx="2148840" cy="1353312"/>
          </a:xfrm>
          <a:prstGeom prst="rect">
            <a:avLst/>
          </a:prstGeom>
          <a:solidFill>
            <a:srgbClr val="DDEEF0"/>
          </a:solidFill>
          <a:ln w="15240">
            <a:solidFill>
              <a:srgbClr val="A7D0D4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535C"/>
                </a:solidFill>
              </a:rPr>
              <a:t>Telephone support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Usual specialist consultation and retrieval pathway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1536192"/>
            <a:ext cx="2057400" cy="1353312"/>
          </a:xfrm>
          <a:prstGeom prst="rect">
            <a:avLst/>
          </a:prstGeom>
          <a:solidFill>
            <a:srgbClr val="F4F8F8"/>
          </a:solidFill>
          <a:ln w="15240">
            <a:solidFill>
              <a:srgbClr val="A7D0D4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535C"/>
                </a:solidFill>
              </a:rPr>
              <a:t>Transfer decision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Transfer / remain local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0" y="1536192"/>
            <a:ext cx="2148840" cy="1353312"/>
          </a:xfrm>
          <a:prstGeom prst="rect">
            <a:avLst/>
          </a:prstGeom>
          <a:solidFill>
            <a:srgbClr val="DDEEF0"/>
          </a:solidFill>
          <a:ln w="15240">
            <a:solidFill>
              <a:srgbClr val="A7D0D4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535C"/>
                </a:solidFill>
              </a:rPr>
              <a:t>Resource result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Transport, local care and receiving-hospital use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163824"/>
            <a:ext cx="2148840" cy="1353312"/>
          </a:xfrm>
          <a:prstGeom prst="rect">
            <a:avLst/>
          </a:prstGeom>
          <a:solidFill>
            <a:srgbClr val="DDEEF0"/>
          </a:solidFill>
          <a:ln w="15240">
            <a:solidFill>
              <a:srgbClr val="A7D0D4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535C"/>
                </a:solidFill>
              </a:rPr>
              <a:t>Video support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Same consultation plus specialist visual assessment and PTZ control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3163824"/>
            <a:ext cx="2057400" cy="1353312"/>
          </a:xfrm>
          <a:prstGeom prst="rect">
            <a:avLst/>
          </a:prstGeom>
          <a:solidFill>
            <a:srgbClr val="F4F8F8"/>
          </a:solidFill>
          <a:ln w="15240">
            <a:solidFill>
              <a:srgbClr val="A7D0D4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535C"/>
                </a:solidFill>
              </a:rPr>
              <a:t>Clinical process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Earlier procedure, stabilisation, communication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0" y="3163824"/>
            <a:ext cx="2148840" cy="1353312"/>
          </a:xfrm>
          <a:prstGeom prst="rect">
            <a:avLst/>
          </a:prstGeom>
          <a:solidFill>
            <a:srgbClr val="DDEEF0"/>
          </a:solidFill>
          <a:ln w="15240">
            <a:solidFill>
              <a:srgbClr val="A7D0D4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535C"/>
                </a:solidFill>
              </a:rPr>
              <a:t>Outcome extension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</a:rPr>
              <a:t>Death; survival without / with major morbidity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55080" y="498348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535C"/>
                </a:solidFill>
              </a:rPr>
              <a:t>Primary analysis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01000" y="49560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Cost-consequence + budget impact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53949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535C"/>
                </a:solidFill>
              </a:rPr>
              <a:t>Exploratory only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01000" y="5340096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QALYs and lifetime costs, including survival with major morbidity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446520"/>
            <a:ext cx="10332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comparison: video-supported consultation versus telephone-supported consultation. RCT not assumed feasible.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cost is the largest economic lever—and the least certain local input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4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public QAS reporting gives RSQ volume, not a neonatal road/rotary/fixed-wing split.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325880"/>
          <a:ext cx="39776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983480" y="1417320"/>
            <a:ext cx="1920240" cy="1115568"/>
          </a:xfrm>
          <a:prstGeom prst="rect">
            <a:avLst/>
          </a:prstGeom>
          <a:solidFill>
            <a:srgbClr val="F4F8F8"/>
          </a:solidFill>
          <a:ln w="12700">
            <a:solidFill>
              <a:srgbClr val="D1E4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535C"/>
                </a:solidFill>
              </a:rPr>
              <a:t>$4k</a:t>
            </a:r>
            <a:endParaRPr lang="en-US" sz="2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95958"/>
                </a:solidFill>
              </a:rPr>
              <a:t>road marginal cost</a:t>
            </a:r>
            <a:endParaRPr lang="en-US" sz="25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range $2k–$8k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7150608" y="1417320"/>
            <a:ext cx="1920240" cy="1115568"/>
          </a:xfrm>
          <a:prstGeom prst="rect">
            <a:avLst/>
          </a:prstGeom>
          <a:solidFill>
            <a:srgbClr val="F4F8F8"/>
          </a:solidFill>
          <a:ln w="12700">
            <a:solidFill>
              <a:srgbClr val="D1E4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535C"/>
                </a:solidFill>
              </a:rPr>
              <a:t>$25k</a:t>
            </a:r>
            <a:endParaRPr lang="en-US" sz="2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95958"/>
                </a:solidFill>
              </a:rPr>
              <a:t>rotary marginal cost</a:t>
            </a:r>
            <a:endParaRPr lang="en-US" sz="25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range $15k–$45k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317736" y="1417320"/>
            <a:ext cx="1920240" cy="1115568"/>
          </a:xfrm>
          <a:prstGeom prst="rect">
            <a:avLst/>
          </a:prstGeom>
          <a:solidFill>
            <a:srgbClr val="F4F8F8"/>
          </a:solidFill>
          <a:ln w="12700">
            <a:solidFill>
              <a:srgbClr val="D1E4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535C"/>
                </a:solidFill>
              </a:rPr>
              <a:t>$18k</a:t>
            </a:r>
            <a:endParaRPr lang="en-US" sz="2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95958"/>
                </a:solidFill>
              </a:rPr>
              <a:t>fixed-wing marginal cost</a:t>
            </a:r>
            <a:endParaRPr lang="en-US" sz="25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range $10k–$30k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4983480" y="2816352"/>
            <a:ext cx="1920240" cy="1115568"/>
          </a:xfrm>
          <a:prstGeom prst="rect">
            <a:avLst/>
          </a:prstGeom>
          <a:solidFill>
            <a:srgbClr val="F4F8F8"/>
          </a:solidFill>
          <a:ln w="12700">
            <a:solidFill>
              <a:srgbClr val="D1E4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535C"/>
                </a:solidFill>
              </a:rPr>
              <a:t>$4k</a:t>
            </a:r>
            <a:endParaRPr lang="en-US" sz="2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95958"/>
                </a:solidFill>
              </a:rPr>
              <a:t>downstream difference</a:t>
            </a:r>
            <a:endParaRPr lang="en-US" sz="25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range $0–$12k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7150608" y="2816352"/>
            <a:ext cx="1920240" cy="1115568"/>
          </a:xfrm>
          <a:prstGeom prst="rect">
            <a:avLst/>
          </a:prstGeom>
          <a:solidFill>
            <a:srgbClr val="F4F8F8"/>
          </a:solidFill>
          <a:ln w="12700">
            <a:solidFill>
              <a:srgbClr val="D1E4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535C"/>
                </a:solidFill>
              </a:rPr>
              <a:t>$16k</a:t>
            </a:r>
            <a:endParaRPr lang="en-US" sz="2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95958"/>
                </a:solidFill>
              </a:rPr>
              <a:t>weighted transfer cost</a:t>
            </a:r>
            <a:endParaRPr lang="en-US" sz="25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base-case estimate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9317736" y="2816352"/>
            <a:ext cx="1920240" cy="1115568"/>
          </a:xfrm>
          <a:prstGeom prst="rect">
            <a:avLst/>
          </a:prstGeom>
          <a:solidFill>
            <a:srgbClr val="F4F8F8"/>
          </a:solidFill>
          <a:ln w="12700">
            <a:solidFill>
              <a:srgbClr val="D1E4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535C"/>
                </a:solidFill>
              </a:rPr>
              <a:t>$7,418</a:t>
            </a:r>
            <a:endParaRPr lang="en-US" sz="2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95958"/>
                </a:solidFill>
              </a:rPr>
              <a:t>NEP26</a:t>
            </a:r>
            <a:endParaRPr lang="en-US" sz="25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per NWAU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4983480" y="4315968"/>
            <a:ext cx="626364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</a:rPr>
              <a:t>Use actual DRG/NWAU for consulted babies where available. NEP is a standardised resource benchmark—not an automatic cash saving. Rural block funding under the NEC must be described separately.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572768" y="473659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35C"/>
                </a:solidFill>
              </a:rPr>
              <a:t>Mode prior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" y="50566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8"/>
                </a:solidFill>
              </a:rPr>
              <a:t>25 road · 9 rotary · 11 fixed-wing outbound legs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" y="6446520"/>
            <a:ext cx="10332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QAS performance data Apr–Jun 2026; NeoSTRESS Queensland neonatal retrieval study; IHACPA NEP Determination 2026–27.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base model breaks even at about a 2 percentage-point absolute transfer reduction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4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bars are conditional scenarios—not observed CHHHS results.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13232" y="1280160"/>
          <a:ext cx="66294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726680" y="1417320"/>
            <a:ext cx="3246120" cy="1078992"/>
          </a:xfrm>
          <a:prstGeom prst="rect">
            <a:avLst/>
          </a:prstGeom>
          <a:solidFill>
            <a:srgbClr val="F4F8F8"/>
          </a:solidFill>
          <a:ln w="12700">
            <a:solidFill>
              <a:srgbClr val="D1E4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535C"/>
                </a:solidFill>
              </a:rPr>
              <a:t>$11,923</a:t>
            </a:r>
            <a:endParaRPr lang="en-US" sz="2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95958"/>
                </a:solidFill>
              </a:rPr>
              <a:t>annual economic programme cost</a:t>
            </a:r>
            <a:endParaRPr lang="en-US" sz="25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capital annualised over five years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7726680" y="2761488"/>
            <a:ext cx="3246120" cy="1078992"/>
          </a:xfrm>
          <a:prstGeom prst="rect">
            <a:avLst/>
          </a:prstGeom>
          <a:solidFill>
            <a:srgbClr val="F4F8F8"/>
          </a:solidFill>
          <a:ln w="12700">
            <a:solidFill>
              <a:srgbClr val="D1E4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535C"/>
                </a:solidFill>
              </a:rPr>
              <a:t>$5,923</a:t>
            </a:r>
            <a:endParaRPr lang="en-US" sz="2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95958"/>
                </a:solidFill>
              </a:rPr>
              <a:t>annual cash continuation cost</a:t>
            </a:r>
            <a:endParaRPr lang="en-US" sz="25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if installed capital is sunk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726680" y="4105656"/>
            <a:ext cx="3246120" cy="1078992"/>
          </a:xfrm>
          <a:prstGeom prst="rect">
            <a:avLst/>
          </a:prstGeom>
          <a:solidFill>
            <a:srgbClr val="F4F8F8"/>
          </a:solidFill>
          <a:ln w="12700">
            <a:solidFill>
              <a:srgbClr val="D1E4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535C"/>
                </a:solidFill>
              </a:rPr>
              <a:t>2.0 pp</a:t>
            </a:r>
            <a:endParaRPr lang="en-US" sz="2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95958"/>
                </a:solidFill>
              </a:rPr>
              <a:t>break-even absolute effect</a:t>
            </a:r>
            <a:endParaRPr lang="en-US" sz="25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about 0.76 avoided transfers/year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94360" y="6446520"/>
            <a:ext cx="10332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37.5 consultations/year; weighted marginal transfer + downstream cost ≈ $15.6k; equipment $10k/site.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Probabilistic analysis suggests likely savings—but the interval includes material loss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4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20,000 simulations jointly vary activity, transfer effect, transport mix/cost and programme cost.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699516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6E8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768096" y="1389888"/>
          <a:ext cx="67208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973568" y="1371600"/>
            <a:ext cx="2926080" cy="1078992"/>
          </a:xfrm>
          <a:prstGeom prst="rect">
            <a:avLst/>
          </a:prstGeom>
          <a:solidFill>
            <a:srgbClr val="F4F8F8"/>
          </a:solidFill>
          <a:ln w="12700">
            <a:solidFill>
              <a:srgbClr val="D1E4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535C"/>
                </a:solidFill>
              </a:rPr>
              <a:t>75%</a:t>
            </a:r>
            <a:endParaRPr lang="en-US" sz="2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95958"/>
                </a:solidFill>
              </a:rPr>
              <a:t>probability cost-saving</a:t>
            </a:r>
            <a:endParaRPr lang="en-US" sz="25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conditional on model structure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7973568" y="2724912"/>
            <a:ext cx="2926080" cy="1078992"/>
          </a:xfrm>
          <a:prstGeom prst="rect">
            <a:avLst/>
          </a:prstGeom>
          <a:solidFill>
            <a:srgbClr val="F4F8F8"/>
          </a:solidFill>
          <a:ln w="12700">
            <a:solidFill>
              <a:srgbClr val="D1E4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535C"/>
                </a:solidFill>
              </a:rPr>
              <a:t>$33k</a:t>
            </a:r>
            <a:endParaRPr lang="en-US" sz="2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95958"/>
                </a:solidFill>
              </a:rPr>
              <a:t>median annual net</a:t>
            </a:r>
            <a:endParaRPr lang="en-US" sz="25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health-system perspective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7973568" y="4078224"/>
            <a:ext cx="2926080" cy="1078992"/>
          </a:xfrm>
          <a:prstGeom prst="rect">
            <a:avLst/>
          </a:prstGeom>
          <a:solidFill>
            <a:srgbClr val="F4F8F8"/>
          </a:solidFill>
          <a:ln w="12700">
            <a:solidFill>
              <a:srgbClr val="D1E4E6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535C"/>
                </a:solidFill>
              </a:rPr>
              <a:t>−$58k to $163k</a:t>
            </a:r>
            <a:endParaRPr lang="en-US" sz="2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95958"/>
                </a:solidFill>
              </a:rPr>
              <a:t>95% interval</a:t>
            </a:r>
            <a:endParaRPr lang="en-US" sz="2500" dirty="0"/>
          </a:p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effect distribution crosses zero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594360" y="6446520"/>
            <a:ext cx="10332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PSA is decision uncertainty, not a confidence interval around a local trial. Parameter distributions are editable in the workbook.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tablet-integrated build is feasible as an architecture—not yet a verified product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4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exact off-the-shelf medically integrated tablet-mounted PTZ package was identified.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1371600"/>
            <a:ext cx="2331720" cy="3127248"/>
          </a:xfrm>
          <a:prstGeom prst="rect">
            <a:avLst/>
          </a:prstGeom>
          <a:solidFill>
            <a:srgbClr val="F4F8F8"/>
          </a:solidFill>
          <a:ln w="12700">
            <a:solidFill>
              <a:srgbClr val="B8D9D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535C"/>
                </a:solidFill>
              </a:rPr>
              <a:t>Current Panda Vision</a:t>
            </a:r>
            <a:endParaRPr lang="en-US" sz="1600" dirty="0"/>
          </a:p>
          <a:p>
            <a:pPr indent="0" marL="0">
              <a:buNone/>
            </a:pPr>
            <a:r>
              <a:rPr lang="en-US" sz="2100" b="1" dirty="0">
                <a:solidFill>
                  <a:srgbClr val="2F8993"/>
                </a:solidFill>
              </a:rPr>
              <a:t>$10k/site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4K PTZ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Built-in telehealth touchscreen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Purpose-built Resuscitaire mount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Documented local compliance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456432" y="1371600"/>
            <a:ext cx="2331720" cy="3127248"/>
          </a:xfrm>
          <a:prstGeom prst="rect">
            <a:avLst/>
          </a:prstGeom>
          <a:solidFill>
            <a:srgbClr val="DDEEF0"/>
          </a:solidFill>
          <a:ln w="12700">
            <a:solidFill>
              <a:srgbClr val="B8D9D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535C"/>
                </a:solidFill>
              </a:rPr>
              <a:t>Tablet + Tiny 2 Lite</a:t>
            </a:r>
            <a:endParaRPr lang="en-US" sz="1600" dirty="0"/>
          </a:p>
          <a:p>
            <a:pPr indent="0" marL="0">
              <a:buNone/>
            </a:pPr>
            <a:r>
              <a:rPr lang="en-US" sz="2100" b="1" dirty="0">
                <a:solidFill>
                  <a:srgbClr val="595958"/>
                </a:solidFill>
              </a:rPr>
              <a:t>~$4.5k concept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USB-C wired webcam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Tablet dock and powered hub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Far-end control unverified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Lowest hardware cost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54496" y="1371600"/>
            <a:ext cx="2331720" cy="3127248"/>
          </a:xfrm>
          <a:prstGeom prst="rect">
            <a:avLst/>
          </a:prstGeom>
          <a:solidFill>
            <a:srgbClr val="F4F8F8"/>
          </a:solidFill>
          <a:ln w="12700">
            <a:solidFill>
              <a:srgbClr val="B8D9D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535C"/>
                </a:solidFill>
              </a:rPr>
              <a:t>Tablet + Tail Air</a:t>
            </a:r>
            <a:endParaRPr lang="en-US" sz="1600" dirty="0"/>
          </a:p>
          <a:p>
            <a:pPr indent="0" marL="0">
              <a:buNone/>
            </a:pPr>
            <a:r>
              <a:rPr lang="en-US" sz="2100" b="1" dirty="0">
                <a:solidFill>
                  <a:srgbClr val="595958"/>
                </a:solidFill>
              </a:rPr>
              <a:t>~$7.5k concept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4K motorised PTZ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Tablet app control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Wi-Fi/NDI, USB-C, PoE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Closest current architecture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052560" y="1371600"/>
            <a:ext cx="2331720" cy="3127248"/>
          </a:xfrm>
          <a:prstGeom prst="rect">
            <a:avLst/>
          </a:prstGeom>
          <a:solidFill>
            <a:srgbClr val="DDEEF0"/>
          </a:solidFill>
          <a:ln w="12700">
            <a:solidFill>
              <a:srgbClr val="B8D9DC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5535C"/>
                </a:solidFill>
              </a:rPr>
              <a:t>Commercial cart</a:t>
            </a:r>
            <a:endParaRPr lang="en-US" sz="1600" dirty="0"/>
          </a:p>
          <a:p>
            <a:pPr indent="0" marL="0">
              <a:buNone/>
            </a:pPr>
            <a:r>
              <a:rPr lang="en-US" sz="2100" b="1" dirty="0">
                <a:solidFill>
                  <a:srgbClr val="595958"/>
                </a:solidFill>
              </a:rPr>
              <a:t>$45k comparator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Integrated clinical platform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Product-dependent PTZ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Bulky and costly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</a:rPr>
              <a:t>Not neonatal-specific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8828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535C"/>
                </a:solidFill>
              </a:rPr>
              <a:t>Prototype before procurement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703320" y="4745736"/>
            <a:ext cx="7360920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</a:rPr>
              <a:t>Validate mounting, power, cleaning, QH Portal interoperability, far-end PTZ control, cyber/privacy, biomedical acceptance and clinician usability. OBSBOT Tail Air is a consumer/prosumer component, not a clinical approval.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6446520"/>
            <a:ext cx="10332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OBSBOT specifications confirm Tail Air tablet control, 4K PTZ, Wi-Fi/NDI, USB-C and PoE. Installed concept costs are assumptions.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Proceed with the evaluation now; use later data collection only to resolve decision uncertainty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85216" y="80467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E4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initial product is an investment model, not a prospective trial.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502920" cy="502920"/>
          </a:xfrm>
          <a:prstGeom prst="ellipse">
            <a:avLst/>
          </a:prstGeom>
          <a:solidFill>
            <a:srgbClr val="2F89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08760" y="130759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535C"/>
                </a:solidFill>
              </a:rPr>
              <a:t>Validate local facts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40680" y="1280160"/>
            <a:ext cx="5623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Invoices/components; 4–5 Atherton episode review; actual mode and destination; DRG/NWAU; local staff time.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02920" cy="502920"/>
          </a:xfrm>
          <a:prstGeom prst="ellipse">
            <a:avLst/>
          </a:prstGeom>
          <a:solidFill>
            <a:srgbClr val="2F89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231343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535C"/>
                </a:solidFill>
              </a:rPr>
              <a:t>Complete the model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40680" y="2286000"/>
            <a:ext cx="5623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Three perspectives; 1/3/5-year budget impact; deterministic scenarios; 20,000-draw PSA; clinical extension kept separate.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502920" cy="502920"/>
          </a:xfrm>
          <a:prstGeom prst="ellipse">
            <a:avLst/>
          </a:prstGeom>
          <a:solidFill>
            <a:srgbClr val="2F89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08760" y="331927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535C"/>
                </a:solidFill>
              </a:rPr>
              <a:t>Review with decision-makers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40680" y="3291840"/>
            <a:ext cx="5623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CHHHS, Townsville neonatology/ANTS-NQ, RSQ/QAS, virtual care, finance, BTS/eHealth and consumer/First Peoples partners.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343400"/>
            <a:ext cx="502920" cy="502920"/>
          </a:xfrm>
          <a:prstGeom prst="ellipse">
            <a:avLst/>
          </a:prstGeom>
          <a:solidFill>
            <a:srgbClr val="2F89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43251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5535C"/>
                </a:solidFill>
              </a:rPr>
              <a:t>Decide whether more evidence is worth collecting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40680" y="4297680"/>
            <a:ext cx="56235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</a:rPr>
              <a:t>Use EVPI/EVPPI/EVSI only after the investment decision and influential uncertainties are clear.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577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535C"/>
                </a:solidFill>
              </a:rPr>
              <a:t>Recommended decision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5504688"/>
            <a:ext cx="8138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22222"/>
                </a:solidFill>
              </a:rPr>
              <a:t>Continue the pilot, complete the model-based evaluation, and prototype a tablet-integrated replacement without assuming equivalence or approval.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" y="6446520"/>
            <a:ext cx="10332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Artifacts: editable economic model, CHHHS briefing note, CHHHS decision presentation and source-controlled Conductor track.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92240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Cairns and Hinterland Hospital and Health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 Vision: model-based economic evaluation</dc:title>
  <dc:subject>Panda Vision neonatal telehealth economic evaluation</dc:subject>
  <dc:creator>Cairns and Hinterland Hospital and Health Service</dc:creator>
  <cp:lastModifiedBy>Cairns and Hinterland Hospital and Health Service</cp:lastModifiedBy>
  <cp:revision>1</cp:revision>
  <dcterms:created xsi:type="dcterms:W3CDTF">2026-10-27T11:11:29Z</dcterms:created>
  <dcterms:modified xsi:type="dcterms:W3CDTF">2026-10-27T11:11:29Z</dcterms:modified>
</cp:coreProperties>
</file>
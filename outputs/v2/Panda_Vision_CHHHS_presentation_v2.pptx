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Supplied CHHHS template background. Artwork retained from corporate source. Preliminary model, not an endorsement or procurement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information: user corrections and CHHHS ELC Operational paper, 21 October 2026.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Queensland Perinatal Data Collection 2022, table 8.09. https://www.health.qld.gov.au/__data/assets/pdf_file/0020/1378010/8-fac2022x.pdf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Haynes 2020 PMID32081766; Lietz 2026 PMID42647428. Full mapping: evidence/literature_parameter_map.csv.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Fox et al. RRH 2024;24:8572. https://www.rrh.org.au/journal/article/8572/ | ABS CPI bridge and price-year rationale in supplement.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IHACPA NEP26; Queensland HHS Funding/Purchasing Guidelines July2026; mchs versions/2026.md (not yet validated).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v2: 20,000 fixed-seed researcher-prior draws. Results are conditional estimates, not observed CHHHS savings.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v2 scenario_results.csv. Lower-cost tablet configurations remain hypothetical installed systems requiring approval.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public-spoke scenario: historical 33-site roster, ANZNN-informed classification proxies, assumed uptake and geography.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Exploratory survival_morbidity_frontier.csv: 108 combinations. All clinical effects, utilities and downstream costs are assumptions.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receipts in verification/assurance.json. Conductor history records completed work and explicit blockers.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inputs, evidence gaps and completion gates are tracked in the Conductor v2 project.
Discussion draft 27 October 2026. Sources and assumptions are documented in the v2 methods/evidence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content-v2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title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 Vision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Evidence-informed economics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pilot to Queensland scenarios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4892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October 2026  |  Version 2  |  Discussion draft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89120" y="5897880"/>
            <a:ext cx="4023360" cy="548640"/>
          </a:xfrm>
          <a:prstGeom prst="rect">
            <a:avLst/>
          </a:prstGeom>
          <a:solidFill>
            <a:srgbClr val="2F899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EVALUATION  |  V2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the incremental value of video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Telephone consultation occurs in both arms. No new clinical study is a prerequisite.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information: user corrections and CHHHS ELC Operational paper, 21 October 2026.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256032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sites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Atherton • Mareeba • Innisfail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02152" y="1417320"/>
            <a:ext cx="256032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consultations/site/year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30–45 across the pilot network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318504" y="1417320"/>
            <a:ext cx="256032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episodes at Atherton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rate or effect estimate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34856" y="1417320"/>
            <a:ext cx="2359152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installation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Invoice/components unverified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200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consequences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639312"/>
            <a:ext cx="51206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decisions, procedural support, stabilisation, acute resource use and family burden.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assume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0" y="3639312"/>
            <a:ext cx="49377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retained baby represents an avoided retrieval, every transfer is undesirable, or every extra survivor saves money.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births make the extrapolation inspectable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Babies born, not mothers or registration transactions. Forecast consultations are not measured illness rates.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Queensland Perinatal Data Collection 2022, table 8.09. https://www.health.qld.gov.au/__data/assets/pdf_file/0020/1378010/8-fac2022x.pdf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743200"/>
                <a:gridCol w="338328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site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 births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calls/year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calls / birth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Atherton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6.4–9.6%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Mareeba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7.5–11.2%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Innisfail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5.1–7.7%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denominator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1520" y="4096512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public rows → 65 co-located sites; 46,711 births preserved. Primary scenario: 33 non-hub sites, 28,276 births.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400800" y="3657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limit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0" y="4096512"/>
            <a:ext cx="4937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is not a 2026 capability census. Private-facility detail, readiness locations and reopened Weipa are separate.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literature supports uncertainty—not an imported effect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observational evidence, economic modelling and simulation have different evidentiary roles.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Haynes 2020 PMID32081766; Lietz 2026 PMID42647428. Full mapping: evidence/literature_parameter_map.csv.</a:t>
            </a:r>
            <a:endParaRPr lang="en-US" sz="800" dirty="0"/>
          </a:p>
        </p:txBody>
      </p:sp>
      <p:pic>
        <p:nvPicPr>
          <p:cNvPr id="6" name="Image 0" descr="outputs/v2/figures/effect_prior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406640" cy="3749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21040" y="1645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counter-evidence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321040" y="2084832"/>
            <a:ext cx="31546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simulation: specialist support improved performance, but phone, video and AR did not differ. Null incremental-video effects remain plausible.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541324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Queensland and 2022 US economic studies inform structure and comparison. They are not independent replications of the local clinical effect.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retrieval anchor replaces an unsupported air price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distinction between allocated resource cost and avoidable cost can reverse the result.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et al. RRH 2024;24:8572. https://www.rrh.org.au/journal/article/8572/ | ABS CPI bridge and price-year rationale in supplement.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32918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$18,670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aeromedical cost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2018–19 Torres Strait study; all ages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434840" y="1417320"/>
            <a:ext cx="32918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$23,825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reference cost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2026; 2019 price year assumed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38160" y="1417320"/>
            <a:ext cx="32918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avoidable fraction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Assumption; broad PSA/scenarios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inferred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3776472"/>
            <a:ext cx="512064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Rotary/fixed multipliers, site transport mix and $4,000 road cost are explicit assumptions. NeoSTRESS is an outbound-leg convenience sample—not a service census.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0" y="33375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not claimed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0" y="3776472"/>
            <a:ext cx="49834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verified neonatal tariff, route-specific flight cost, or guaranteed cash release. CPI is not an aeromedical-specific cost index.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QWAU/QEP and NWAU/NEP belong in separate ledgers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combine funding benchmarks or equate revenue with the cost of caring for a baby.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IHACPA NEP26; Queensland HHS Funding/Purchasing Guidelines July2026; mchs versions/2026.md (not yet validated).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4572000"/>
                <a:gridCol w="370332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Ledger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Calculation / treatment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 cost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 + care + programme differences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economic result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benchmark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NWAU(26) × NEP26 ($7,418)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price; episode data required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Queensland benchmark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QWAU × QEP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QEP/local weights unverified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organisational budget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Contracts, allocations, caps, block funding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inferred from NWAU alone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77240" y="4343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mchs library is the relevant calculator. Its 2026 parity is explicitly unvalidated: this version uses a year guard and official-export pathway, not a claim of validated mchs execution.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economics remain uncertain after the audit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proven survival effect is monetised in this primary result. Positive saving means lower valued resource use.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v2: 20,000 fixed-seed researcher-prior draws. Results are conditional estimates, not observed CHHHS savings.</a:t>
            </a:r>
            <a:endParaRPr lang="en-US" sz="800" dirty="0"/>
          </a:p>
        </p:txBody>
      </p:sp>
      <p:pic>
        <p:nvPicPr>
          <p:cNvPr id="6" name="Image 0" descr="outputs/v2/figures/pilot_p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360920" cy="3977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47888" y="1508760"/>
            <a:ext cx="320040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cost saving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Previously 75%; assumptions changed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247888" y="3127248"/>
            <a:ext cx="320040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–$2,194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annual net saving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95%: –$41,148 to +$65,642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Deterministic: $14,052 annual programme cost; $4,167 net resource saving. The probabilistic mean is +$2,428; a positive mean is not a robust investment verdict.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analysis exposes the decision-changing assumptions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deterministic comparisons across pilot and state portfolios; not 58 independent studies.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v2 scenario_results.csv. Lower-cost tablet configurations remain hypothetical installed systems requiring approval.</a:t>
            </a:r>
            <a:endParaRPr lang="en-US" sz="800" dirty="0"/>
          </a:p>
        </p:txBody>
      </p:sp>
      <p:pic>
        <p:nvPicPr>
          <p:cNvPr id="6" name="Image 0" descr="outputs/v2/figures/pilot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7589520" cy="4663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2480" y="1691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412480" y="2130552"/>
            <a:ext cx="297180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/ published / harmful transfer effects; critical-heavy cases; rescue; reliability; cash vs capital; transport mix; uptake; hub capacity; funding sensitivities.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statewide model is useful—but does not create evidence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clinical-effect uncertainty remains correlated across sites; casemix coverage does not remove systematic bias.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public-spoke scenario: historical 33-site roster, ANZNN-informed classification proxies, assumed uptake and geography.</a:t>
            </a:r>
            <a:endParaRPr lang="en-US" sz="800" dirty="0"/>
          </a:p>
        </p:txBody>
      </p:sp>
      <p:pic>
        <p:nvPicPr>
          <p:cNvPr id="6" name="Image 0" descr="outputs/v2/figures/spokes_p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360920" cy="3977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47888" y="1508760"/>
            <a:ext cx="320040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50.7%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cost saving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+$135,429/year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247888" y="3127248"/>
            <a:ext cx="320040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$9,692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annual net saving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95%: –$1.012m to +$1.809m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~1,115 forecast consultations/year. Shared support and capacity steps are charged. This is a public-site scenario, not a complete 2026 statewide investment case.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with morbidity must remain in the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outcomes can justify extra spending; a cost-saving requirement alone is too narrow.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survival_morbidity_frontier.csv: 108 combinations. All clinical effects, utilities and downstream costs are assumptions.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frontier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1993392"/>
            <a:ext cx="5120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survival 0 / 0.1 / 0.5 / 1%; major-morbidity share 10 / 35 / 70%; discount 0 / 3 / 5%; illustrative willingness to pay $0 / $50k / $100k.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0" y="1554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a lifetime CEA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993392"/>
            <a:ext cx="49834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40-year constant survival and assumed utilities/costs are not calibrated trajectories. They expose the trade-off without asserting a mortality benefit or excluding disabled survivors.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5212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structural priorities: antenatal transfer, repeated calls, origin–destination travel, common outages, hub delay, caregiver spillover and equity.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checks pass; online assurance remains blocked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configured workflow is not evidence that hosted CI, dependency audit or release has passed.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receipts in verification/assurance.json. Conductor history records completed work and explicit blockers.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371600"/>
          <a:ext cx="106070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576072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status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Unit/data/model tests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passed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 branch-inclusive coverage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 (95% minimum)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dependency versions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targets; not installed/resolved here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Lint / generative / vulnerability tools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Unavailable locally; online stages configured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Hosted Actions / Python version matrix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Conductor submodule working tree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Pinned gitlink; checkout blocked by DNS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074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SHA-pinned Actions, read-only permissions, hash-resolution stage, SBOM/audit and approval-gated release are configured. No public release or production-readiness claim.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model to define the investment conditions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is where video offers sufficient clinical or economic value—not whether a favourable point estimate can be produced.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inputs, evidence gaps and completion gates are tracked in the Conductor v2 project.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" y="15544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now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1993392"/>
            <a:ext cx="50749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pilot continuation, replacement and public-spoke portfolios. Examine no-benefit and higher-cost cases. Update ordinary invoices and public data when available.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0" y="1554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explicit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993392"/>
            <a:ext cx="49834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capability/denominators; QEP/local weights; transport marginal costs; effectiveness transportability; clinical outcomes; and unexecuted online CI gates.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138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wait for structured expert estimates. Do not treat uncertain clinical benefits as zero merely because they cannot yet be priced.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Vision | Evidence and Queensland scenarios | v2</dc:title>
  <dc:subject>Preliminary economic evaluation</dc:subject>
  <dc:creator>Evaluation working draft</dc:creator>
  <cp:lastModifiedBy>Evaluation working draft</cp:lastModifiedBy>
  <cp:revision>1</cp:revision>
  <dcterms:created xsi:type="dcterms:W3CDTF">2026-10-27T13:50:45Z</dcterms:created>
  <dcterms:modified xsi:type="dcterms:W3CDTF">2026-10-27T13:50:45Z</dcterms:modified>
</cp:coreProperties>
</file>
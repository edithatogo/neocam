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Authentic supplied CHHHS template artwork; working evaluation, not procurement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V6 methods supplement and source specification; all new assumptions separately registered.
Discussion draft 28 October 2026. Sources and assumptions are documented in the v6 pathway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outputs/v6/pathways.csv. Timing shares are assumptions; no mortality improvement is credited.
Discussion draft 28 October 2026. Sources and assumptions are documented in the v6 pathway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IHACPA NEP26 Appendix A; provisional unadjusted price prototypes; current QEP/local weights unknown.
Discussion draft 28 October 2026. Sources and assumptions are documented in the v6 pathway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assumptions: 15 extra minutes/call, $200/hour; 100 spare hours, 200-hour/$40,000 capacity blocks.
Discussion draft 28 October 2026. Sources and assumptions are documented in the v6 pathway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outputs/v6/v5_v6_bridge.csv. An improved model result is not new empirical effectiveness evidence.
Discussion draft 28 October 2026. Sources and assumptions are documented in the v6 pathway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outputs/v6/psa_summary.csv. Probabilities are conditional model outputs, not measured clinical performance.
Discussion draft 28 October 2026. Sources and assumptions are documented in the v6 pathway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scripts/analyse_v6.py; outputs/v6 tables and paired draw files. Historical v5 research remains archived.
Discussion draft 28 October 2026. Sources and assumptions are documented in the v6 pathway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evidence/v6/full_text_verification.csv. Full texts: Lietz2026 PMC13688369; Maddox2021 PMC8102672; Fox2024 RRH8572.
Discussion draft 28 October 2026. Sources and assumptions are documented in the v6 pathway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docs/validation/v6/panel_status.json and four reviewer briefs; actual verification receipts govern acceptance.
Discussion draft 28 October 2026. Sources and assumptions are documented in the v6 pathway supplement.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hhhs-content-v2-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hhhs-title-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74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 Vision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269748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care pathways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transparent investment decisions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4892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October 2026  |  Model revision v6  |  Discussion draft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repairs—not new clinical evidence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Telephone consultation remains common care across all five configurations.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 methods supplement and source specification; all new assumptions separately registered.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Workload-based hub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1947672"/>
            <a:ext cx="32918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the charge triggered by a fourth site. Cost only additional video time; distinguish resource hours from paid capacity.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262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pathways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26280" y="1947672"/>
            <a:ext cx="320040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immediate transfer, initially local care, delayed rescue and final local care in each arm. Do not count the same effect twice.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components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183880" y="1947672"/>
            <a:ext cx="320040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originating, receiving, local and extra pre-rescue care once each. Funding benchmarks are not actual marginal expenditure.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2960" y="5440680"/>
            <a:ext cx="10469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options remain: telephone, mobile unit, Panda Vision, ceiling/wall PTZ and a complete tablet/OBSBOT kit.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consultation ends in one of three pathways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transfer + delayed rescue + final local care = total consultations.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outputs/v6/pathways.csv. Timing shares are assumptions; no mortality improvement is credited.</a:t>
            </a:r>
            <a:endParaRPr lang="en-US" sz="800" dirty="0"/>
          </a:p>
        </p:txBody>
      </p:sp>
      <p:pic>
        <p:nvPicPr>
          <p:cNvPr id="6" name="Image 0" descr="outputs/v6/figures/01_pathway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7543800" cy="4480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49640" y="15544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endpoint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549640" y="1993392"/>
            <a:ext cx="2880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video effect to eventual transfer, then partition timing. Failed video follows telephone care.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549640" y="37947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tests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549640" y="4233672"/>
            <a:ext cx="28803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initial-decision endpoint; more delay; excess rescue; unchanged effect for critical cases.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costs are now auditable components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DRG assignment and full NWAU/QWAU calculation are not claimed.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IHACPA NEP26 Appendix A; provisional unadjusted price prototypes; current QEP/local weights unknown.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291840"/>
                <a:gridCol w="493776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Charged to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 against double counting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Originating care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 and rescued transfers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 included once per transferred episode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Receiving care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Immediate and rescued transfers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Receiving episode separate from origin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local care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final locally retained infants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added as a full episode before every rescue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pre-rescue care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Delayed rescues only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Incremental observation/burden, not another full admission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 / resource fractions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Separate ledgers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NEP/QEP revenue is not added to healthcare costs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22960" y="5212080"/>
            <a:ext cx="10469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P68D / P68B / P60B / P60A / P06B are illustrative episode-price prototypes, not inferred patient codes. Local price burden and avoidable fractions remain uncertain.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fourth site no longer creates a hub-cost jump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workload is compared with explicit spare capacity.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assumptions: 15 extra minutes/call, $200/hour; 100 spare hours, 200-hour/$40,000 capacity blocks.</a:t>
            </a:r>
            <a:endParaRPr lang="en-US" sz="800" dirty="0"/>
          </a:p>
        </p:txBody>
      </p:sp>
      <p:pic>
        <p:nvPicPr>
          <p:cNvPr id="6" name="Image 0" descr="outputs/v6/figures/02_hub_work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7589520" cy="4434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49640" y="1463040"/>
            <a:ext cx="283464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9.375 h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extra video time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$1,875; paid block $0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549640" y="3108960"/>
            <a:ext cx="283464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278.64 h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extra video time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$55,727; paid block $40,000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595360" y="5074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add the two ledgers.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statewide deterministic result changed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bridge separates the accounting repair from pathway and price assumptions.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outputs/v6/v5_v6_bridge.csv. An improved model result is not new empirical effectiveness evidence.</a:t>
            </a:r>
            <a:endParaRPr lang="en-US" sz="800" dirty="0"/>
          </a:p>
        </p:txBody>
      </p:sp>
      <p:pic>
        <p:nvPicPr>
          <p:cNvPr id="6" name="Image 0" descr="outputs/v6/figures/03_bridge_spok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7680960" cy="4434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4108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arbitrary charge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641080" y="2039112"/>
            <a:ext cx="2743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+$120,000/year from removing the inherited hub/site-count rule.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64108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Pathways and prototypes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641080" y="4005072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further +$129,514/year depends jointly on explicit timing and hospital-cost assumptions.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still spans added cost and resource saving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paired draws; systematic uncertainty is shared across sites and alternatives.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outputs/v6/psa_summary.csv. Probabilities are conditional model outputs, not measured clinical performance.</a:t>
            </a:r>
            <a:endParaRPr lang="en-US" sz="800" dirty="0"/>
          </a:p>
        </p:txBody>
      </p:sp>
      <p:pic>
        <p:nvPicPr>
          <p:cNvPr id="6" name="Image 0" descr="outputs/v6/figures/04_psa_pilot_re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7589520" cy="4434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49640" y="1508760"/>
            <a:ext cx="283464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50.5%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Panda saves vs phone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+$4,252/year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549640" y="3200400"/>
            <a:ext cx="2834640" cy="1325880"/>
          </a:xfrm>
          <a:prstGeom prst="rect">
            <a:avLst/>
          </a:prstGeom>
          <a:solidFill>
            <a:srgbClr val="E8F3F4"/>
          </a:solidFill>
          <a:ln/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65.6%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Panda saves vs phone</a:t>
            </a: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+$304,308/year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595360" y="5074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and probability-best differ.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decision-relevant sensitivity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and uncalibrated lifetime results are no longer headline analyses.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scripts/analyse_v6.py; outputs/v6 tables and paired draw files. Historical v5 research remains archived.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3840480"/>
                <a:gridCol w="480060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 v6 scope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Paired probabilistic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structures × 20,000 draws × 5 arms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Effect, costs, timing, reliability and incumbency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One-way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dimensions × 21 values × 2 portfolios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Identify decision drivers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Two-way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complete 21×21 grids × 2 portfolios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Joint assumptions and switching boundaries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Four-way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 exact pilot configurations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Joint effect/local burden/rescue/workload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budget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years for five options in two portfolios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 replacement and extra paid capacity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verification is partial—not complete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abstract has been relabelled as a complete paper.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evidence/v6/full_text_verification.csv. Full texts: Lietz2026 PMC13688369; Maddox2021 PMC8102672; Fox2024 RRH8572.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98480" cy="914400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Actually reviewed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Still missing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9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Lietz: complete simulation article body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Haynes2020: core transfer-effect study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Maddox: complete implementation article body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Armfield2012: Queensland economic paper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Fox: complete transport-cost article text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Yoo2022: neonatal economic model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NEMO poster: complete extracted poster text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Thao2022: teleneonatology cost model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22960" y="47548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Maddox excluded deaths and mandatory transfers. Lietz does not establish device equivalence. The poster is not a substitute for Armfield’s economic paper.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verification is not independent validation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3210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DF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 subagent panel could not be executed in this environment.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880360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docs/validation/v6/panel_status.json and four reviewer briefs; actual verification receipts govern acceptance.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22960" y="1463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author checks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1901952"/>
            <a:ext cx="493776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scalar arithmetic; hand example; population conservation; failed-video/null/critical cases; hospital sums; workload thresholds; replacement schedule.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4652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still open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46520" y="1901952"/>
            <a:ext cx="484632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clinical/economic/evidence/software reviews; four core full texts; clean locked toolchain; populated Conductor checkout; hosted CI.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4663440"/>
            <a:ext cx="10469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as an early cost–consequence and investment-threshold analysis. Complete the stated review gates before manuscript submission; do not imply clinical validation, expenditure approval or a completed independent panel.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 Vision | Explicit pathways and validation status | v6</dc:title>
  <dc:subject>Preliminary economic evaluation</dc:subject>
  <dc:creator>Evaluation working draft</dc:creator>
  <cp:lastModifiedBy>Evaluation working draft</cp:lastModifiedBy>
  <cp:revision>1</cp:revision>
  <dcterms:created xsi:type="dcterms:W3CDTF">2026-10-28T08:01:14Z</dcterms:created>
  <dcterms:modified xsi:type="dcterms:W3CDTF">2026-10-28T08:01:14Z</dcterms:modified>
</cp:coreProperties>
</file>